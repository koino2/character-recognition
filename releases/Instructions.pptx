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59" r:id="rId4"/>
    <p:sldId id="257"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3750"/>
    <a:srgbClr val="EDF2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5" autoAdjust="0"/>
    <p:restoredTop sz="94660"/>
  </p:normalViewPr>
  <p:slideViewPr>
    <p:cSldViewPr snapToGrid="0">
      <p:cViewPr varScale="1">
        <p:scale>
          <a:sx n="59" d="100"/>
          <a:sy n="59" d="100"/>
        </p:scale>
        <p:origin x="9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8454F-002F-4D12-85FD-D5BF089A347B}" type="datetimeFigureOut">
              <a:rPr lang="en-IN" smtClean="0"/>
              <a:t>29-04-2026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ABF43-6BC3-455A-9B8C-FDBCBD1C3F30}" type="slidenum">
              <a:rPr lang="en-IN" smtClean="0"/>
              <a:t>‹#›</a:t>
            </a:fld>
            <a:endParaRPr lang="en-IN"/>
          </a:p>
        </p:txBody>
      </p:sp>
    </p:spTree>
    <p:extLst>
      <p:ext uri="{BB962C8B-B14F-4D97-AF65-F5344CB8AC3E}">
        <p14:creationId xmlns:p14="http://schemas.microsoft.com/office/powerpoint/2010/main" val="233418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19ABF43-6BC3-455A-9B8C-FDBCBD1C3F30}" type="slidenum">
              <a:rPr lang="en-IN" smtClean="0"/>
              <a:t>5</a:t>
            </a:fld>
            <a:endParaRPr lang="en-IN"/>
          </a:p>
        </p:txBody>
      </p:sp>
    </p:spTree>
    <p:extLst>
      <p:ext uri="{BB962C8B-B14F-4D97-AF65-F5344CB8AC3E}">
        <p14:creationId xmlns:p14="http://schemas.microsoft.com/office/powerpoint/2010/main" val="4048158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F35E-420E-0412-C92E-88974CE18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108DA-EDB6-4345-CEDB-C956A721A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23D4D-3A90-AFF2-3763-1661AF159A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9FA57CD-39D6-A33B-81AF-768F7A4E19BC}"/>
              </a:ext>
            </a:extLst>
          </p:cNvPr>
          <p:cNvSpPr>
            <a:spLocks noGrp="1"/>
          </p:cNvSpPr>
          <p:nvPr>
            <p:ph type="sldNum" sz="quarter" idx="5"/>
          </p:nvPr>
        </p:nvSpPr>
        <p:spPr/>
        <p:txBody>
          <a:bodyPr/>
          <a:lstStyle/>
          <a:p>
            <a:fld id="{F19ABF43-6BC3-455A-9B8C-FDBCBD1C3F30}" type="slidenum">
              <a:rPr lang="en-IN" smtClean="0"/>
              <a:t>6</a:t>
            </a:fld>
            <a:endParaRPr lang="en-IN"/>
          </a:p>
        </p:txBody>
      </p:sp>
    </p:spTree>
    <p:extLst>
      <p:ext uri="{BB962C8B-B14F-4D97-AF65-F5344CB8AC3E}">
        <p14:creationId xmlns:p14="http://schemas.microsoft.com/office/powerpoint/2010/main" val="3681763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47724-2B5F-09D7-0C9E-2F5F48EB9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B4E51-8DDF-E937-067A-7AAD87175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E8921-0270-F425-31E2-A5F2363FC8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F27629A-866D-D86B-D6DF-022C3A102925}"/>
              </a:ext>
            </a:extLst>
          </p:cNvPr>
          <p:cNvSpPr>
            <a:spLocks noGrp="1"/>
          </p:cNvSpPr>
          <p:nvPr>
            <p:ph type="sldNum" sz="quarter" idx="5"/>
          </p:nvPr>
        </p:nvSpPr>
        <p:spPr/>
        <p:txBody>
          <a:bodyPr/>
          <a:lstStyle/>
          <a:p>
            <a:fld id="{F19ABF43-6BC3-455A-9B8C-FDBCBD1C3F30}" type="slidenum">
              <a:rPr lang="en-IN" smtClean="0"/>
              <a:t>7</a:t>
            </a:fld>
            <a:endParaRPr lang="en-IN"/>
          </a:p>
        </p:txBody>
      </p:sp>
    </p:spTree>
    <p:extLst>
      <p:ext uri="{BB962C8B-B14F-4D97-AF65-F5344CB8AC3E}">
        <p14:creationId xmlns:p14="http://schemas.microsoft.com/office/powerpoint/2010/main" val="2780319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A30A-AF10-203B-C274-0C37BCAA4D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D74079-8C0A-AA01-87E5-D2AD789BB0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0C3DF3-3324-A9DB-1811-0B39B8F21628}"/>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5" name="Footer Placeholder 4">
            <a:extLst>
              <a:ext uri="{FF2B5EF4-FFF2-40B4-BE49-F238E27FC236}">
                <a16:creationId xmlns:a16="http://schemas.microsoft.com/office/drawing/2014/main" id="{ED5AE0F4-20FF-D279-5AC3-EDFC3F2A24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4D8E2C-8C4D-6B93-7F29-18024EB42EE4}"/>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3105453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6F398-CC4B-4933-49F2-3107B2CE43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335F68-2D30-7B29-67D1-DFA49569A6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034F31-0F74-C6D9-DB52-CF48FDB57E22}"/>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5" name="Footer Placeholder 4">
            <a:extLst>
              <a:ext uri="{FF2B5EF4-FFF2-40B4-BE49-F238E27FC236}">
                <a16:creationId xmlns:a16="http://schemas.microsoft.com/office/drawing/2014/main" id="{877F7BBE-64E0-CCA1-010E-BE7C25C6E6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99F372-87D6-71E0-7B92-89FF3C1A8DFF}"/>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3768076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AD6FB-A480-ACC7-D26E-0E8B11DF46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EFD3CE-C28D-2DFE-6081-19B4CFDFDE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45E056-BB42-7C26-DD17-BF61C766BD92}"/>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5" name="Footer Placeholder 4">
            <a:extLst>
              <a:ext uri="{FF2B5EF4-FFF2-40B4-BE49-F238E27FC236}">
                <a16:creationId xmlns:a16="http://schemas.microsoft.com/office/drawing/2014/main" id="{520A2A87-6359-1057-0699-85B821CB8A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2FB8FD-8FCF-7F84-EF67-A8FC32537D21}"/>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2982512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46AA-1702-DB3E-FDE3-5910797159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08E68B-4BBA-C07E-5A18-5D22EC0397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236D34-DE49-021B-8777-A27E8BA9FD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967985-90BE-13CB-4A5B-71636E587BDE}"/>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6" name="Footer Placeholder 5">
            <a:extLst>
              <a:ext uri="{FF2B5EF4-FFF2-40B4-BE49-F238E27FC236}">
                <a16:creationId xmlns:a16="http://schemas.microsoft.com/office/drawing/2014/main" id="{3EF133CD-275B-FC77-A512-DE6F0E3427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B3619F-6F84-18E2-068E-A108C3F1095A}"/>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1157775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8B18-91F1-46CF-5C1B-ADE61DB156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2CB85D-65BF-D7F0-F537-C05AD5537F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5A04AB-6A18-A833-63D1-C67801D38C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0A3D7D-99F3-EC39-978F-96BBA84FDD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C5CBC1-CD1C-7083-124B-F8EAD5B604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D174546-9116-2A66-369F-9253D4FCB172}"/>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8" name="Footer Placeholder 7">
            <a:extLst>
              <a:ext uri="{FF2B5EF4-FFF2-40B4-BE49-F238E27FC236}">
                <a16:creationId xmlns:a16="http://schemas.microsoft.com/office/drawing/2014/main" id="{5785D8BA-A66E-7CB7-42A5-53F291DCEF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B6263D-D806-CDBF-A1A4-39FB46C7D163}"/>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530781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A12DF-634C-A057-D4F8-79D3FF7CC5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A02CB5-003E-5DF8-EEFD-EB4572B43C28}"/>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4" name="Footer Placeholder 3">
            <a:extLst>
              <a:ext uri="{FF2B5EF4-FFF2-40B4-BE49-F238E27FC236}">
                <a16:creationId xmlns:a16="http://schemas.microsoft.com/office/drawing/2014/main" id="{823A22E3-3BEC-6269-D37D-F9CEB0AA60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B2E76E-7A13-773A-A336-4777192D0318}"/>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2816582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E1E654-8DA0-5BEB-57D1-96CCC6136364}"/>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3" name="Footer Placeholder 2">
            <a:extLst>
              <a:ext uri="{FF2B5EF4-FFF2-40B4-BE49-F238E27FC236}">
                <a16:creationId xmlns:a16="http://schemas.microsoft.com/office/drawing/2014/main" id="{C0A3E913-2FE3-DD6D-5B4D-FB1FE9A547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946DA4-3B05-EB10-7769-8FA1D35AC250}"/>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515867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1735-29FD-0DF5-8794-13A3BC0A6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4724F2-378C-F48B-28DB-66ECCFDF1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2542AC-4DFE-CDB3-A641-CCC97FAE7D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8659F1-A8AA-362C-C346-1294084AFCE2}"/>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6" name="Footer Placeholder 5">
            <a:extLst>
              <a:ext uri="{FF2B5EF4-FFF2-40B4-BE49-F238E27FC236}">
                <a16:creationId xmlns:a16="http://schemas.microsoft.com/office/drawing/2014/main" id="{2C82969A-924D-80E1-F45C-4856AEB99F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7DF269-902E-9CCF-B265-00B43E5E5F82}"/>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102498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4ADFF-B216-942D-50B3-180206740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F7B121-7FEE-7B42-7122-DE696E035E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11659D-CEA8-C95E-F103-BB6723051F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E36E95-9D73-60D7-B36E-B6B1C5AEF461}"/>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6" name="Footer Placeholder 5">
            <a:extLst>
              <a:ext uri="{FF2B5EF4-FFF2-40B4-BE49-F238E27FC236}">
                <a16:creationId xmlns:a16="http://schemas.microsoft.com/office/drawing/2014/main" id="{6763217C-100E-0C8A-A00D-30D79CBFDC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C615E9-BCF2-69EF-3162-D4E6C97F1526}"/>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680930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6A633-7988-8641-378B-B5385FA653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D6A770-D7F9-C832-B32D-B11BE6EA7E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102FA4-7EDF-06C4-5AF4-116D1117B940}"/>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5" name="Footer Placeholder 4">
            <a:extLst>
              <a:ext uri="{FF2B5EF4-FFF2-40B4-BE49-F238E27FC236}">
                <a16:creationId xmlns:a16="http://schemas.microsoft.com/office/drawing/2014/main" id="{97D8F184-9E7E-C0C2-009B-F05B8452F3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FE1013-0E3E-7B29-2209-FA1C4CE77557}"/>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1192948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A694E3-C484-F58E-6633-04425A5F9A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D660B0-6219-0C31-91AC-F945BB220D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AB366A-DD82-D512-3D5E-2D1433836C11}"/>
              </a:ext>
            </a:extLst>
          </p:cNvPr>
          <p:cNvSpPr>
            <a:spLocks noGrp="1"/>
          </p:cNvSpPr>
          <p:nvPr>
            <p:ph type="dt" sz="half" idx="10"/>
          </p:nvPr>
        </p:nvSpPr>
        <p:spPr/>
        <p:txBody>
          <a:bodyPr/>
          <a:lstStyle/>
          <a:p>
            <a:fld id="{210E5AF3-D87E-4F83-9098-4B07D2CD908E}" type="datetimeFigureOut">
              <a:rPr lang="en-IN" smtClean="0"/>
              <a:t>29-04-2026</a:t>
            </a:fld>
            <a:endParaRPr lang="en-IN"/>
          </a:p>
        </p:txBody>
      </p:sp>
      <p:sp>
        <p:nvSpPr>
          <p:cNvPr id="5" name="Footer Placeholder 4">
            <a:extLst>
              <a:ext uri="{FF2B5EF4-FFF2-40B4-BE49-F238E27FC236}">
                <a16:creationId xmlns:a16="http://schemas.microsoft.com/office/drawing/2014/main" id="{4C3668E8-EF58-97F5-863C-053ACBF645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A62D89-20F3-598B-EE3F-8963F1AE34AD}"/>
              </a:ext>
            </a:extLst>
          </p:cNvPr>
          <p:cNvSpPr>
            <a:spLocks noGrp="1"/>
          </p:cNvSpPr>
          <p:nvPr>
            <p:ph type="sldNum" sz="quarter" idx="12"/>
          </p:nvPr>
        </p:nvSpPr>
        <p:spPr/>
        <p:txBody>
          <a:bodyPr/>
          <a:lstStyle/>
          <a:p>
            <a:fld id="{FE5EB767-DFF3-4722-B247-624616DCF7DA}" type="slidenum">
              <a:rPr lang="en-IN" smtClean="0"/>
              <a:t>‹#›</a:t>
            </a:fld>
            <a:endParaRPr lang="en-IN"/>
          </a:p>
        </p:txBody>
      </p:sp>
    </p:spTree>
    <p:extLst>
      <p:ext uri="{BB962C8B-B14F-4D97-AF65-F5344CB8AC3E}">
        <p14:creationId xmlns:p14="http://schemas.microsoft.com/office/powerpoint/2010/main" val="3633710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726EC9-C41C-A665-39C2-E33C27267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93F603-5569-4129-6455-CA11AB0B9E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09CE24-5193-7A57-B8B1-FD003B2A93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0E5AF3-D87E-4F83-9098-4B07D2CD908E}" type="datetimeFigureOut">
              <a:rPr lang="en-IN" smtClean="0"/>
              <a:t>29-04-2026</a:t>
            </a:fld>
            <a:endParaRPr lang="en-IN"/>
          </a:p>
        </p:txBody>
      </p:sp>
      <p:sp>
        <p:nvSpPr>
          <p:cNvPr id="5" name="Footer Placeholder 4">
            <a:extLst>
              <a:ext uri="{FF2B5EF4-FFF2-40B4-BE49-F238E27FC236}">
                <a16:creationId xmlns:a16="http://schemas.microsoft.com/office/drawing/2014/main" id="{0EFC3D77-DEF6-18BA-6375-4F1150B6D7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3169747-3E4C-9773-E7CE-4473DDCB3C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5EB767-DFF3-4722-B247-624616DCF7DA}" type="slidenum">
              <a:rPr lang="en-IN" smtClean="0"/>
              <a:t>‹#›</a:t>
            </a:fld>
            <a:endParaRPr lang="en-IN"/>
          </a:p>
        </p:txBody>
      </p:sp>
    </p:spTree>
    <p:extLst>
      <p:ext uri="{BB962C8B-B14F-4D97-AF65-F5344CB8AC3E}">
        <p14:creationId xmlns:p14="http://schemas.microsoft.com/office/powerpoint/2010/main" val="2295423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java.com/en/"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37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874B4-B5A3-D65F-49E7-62E2A4A1F73A}"/>
              </a:ext>
            </a:extLst>
          </p:cNvPr>
          <p:cNvSpPr>
            <a:spLocks noGrp="1"/>
          </p:cNvSpPr>
          <p:nvPr>
            <p:ph type="ctrTitle"/>
          </p:nvPr>
        </p:nvSpPr>
        <p:spPr/>
        <p:txBody>
          <a:bodyPr>
            <a:normAutofit/>
          </a:bodyPr>
          <a:lstStyle/>
          <a:p>
            <a:r>
              <a:rPr lang="en-IN" sz="7200" b="1" dirty="0">
                <a:solidFill>
                  <a:schemeClr val="bg1"/>
                </a:solidFill>
                <a:latin typeface="MS PGothic" panose="020B0600070205080204" pitchFamily="34" charset="-128"/>
                <a:ea typeface="MS PGothic" panose="020B0600070205080204" pitchFamily="34" charset="-128"/>
              </a:rPr>
              <a:t>General Instructions</a:t>
            </a:r>
            <a:endParaRPr lang="en-IN" b="1" dirty="0">
              <a:solidFill>
                <a:schemeClr val="bg1"/>
              </a:solidFill>
              <a:latin typeface="MS PGothic" panose="020B0600070205080204" pitchFamily="34" charset="-128"/>
              <a:ea typeface="MS PGothic" panose="020B0600070205080204" pitchFamily="34" charset="-128"/>
            </a:endParaRPr>
          </a:p>
        </p:txBody>
      </p:sp>
      <p:sp>
        <p:nvSpPr>
          <p:cNvPr id="3" name="Subtitle 2">
            <a:extLst>
              <a:ext uri="{FF2B5EF4-FFF2-40B4-BE49-F238E27FC236}">
                <a16:creationId xmlns:a16="http://schemas.microsoft.com/office/drawing/2014/main" id="{EAF78220-01DB-5B7C-840F-3DDE9D86DE57}"/>
              </a:ext>
            </a:extLst>
          </p:cNvPr>
          <p:cNvSpPr>
            <a:spLocks noGrp="1"/>
          </p:cNvSpPr>
          <p:nvPr>
            <p:ph type="subTitle" idx="1"/>
          </p:nvPr>
        </p:nvSpPr>
        <p:spPr/>
        <p:txBody>
          <a:bodyPr/>
          <a:lstStyle/>
          <a:p>
            <a:r>
              <a:rPr lang="en-IN" dirty="0">
                <a:solidFill>
                  <a:schemeClr val="bg1"/>
                </a:solidFill>
              </a:rPr>
              <a:t>Handwritten Digit Recognition</a:t>
            </a:r>
          </a:p>
        </p:txBody>
      </p:sp>
      <p:pic>
        <p:nvPicPr>
          <p:cNvPr id="1034" name="Picture 10" descr="Chef Orpheus">
            <a:extLst>
              <a:ext uri="{FF2B5EF4-FFF2-40B4-BE49-F238E27FC236}">
                <a16:creationId xmlns:a16="http://schemas.microsoft.com/office/drawing/2014/main" id="{1030C43F-F1CA-7DDD-7EB8-AA4293AA7D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4886" y="4135437"/>
            <a:ext cx="2722563" cy="272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735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AF1F831-A73E-3D46-4275-484348593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6B2D0-0318-5A39-E362-130B400D5E63}"/>
              </a:ext>
            </a:extLst>
          </p:cNvPr>
          <p:cNvSpPr>
            <a:spLocks noGrp="1"/>
          </p:cNvSpPr>
          <p:nvPr>
            <p:ph type="title"/>
          </p:nvPr>
        </p:nvSpPr>
        <p:spPr/>
        <p:txBody>
          <a:bodyPr/>
          <a:lstStyle/>
          <a:p>
            <a:r>
              <a:rPr lang="en-IN" b="1" dirty="0">
                <a:solidFill>
                  <a:srgbClr val="EC3750"/>
                </a:solidFill>
                <a:latin typeface="Cascadia Mono SemiBold" panose="020B0609020000020004" pitchFamily="49" charset="0"/>
                <a:ea typeface="Cascadia Mono SemiBold" panose="020B0609020000020004" pitchFamily="49" charset="0"/>
                <a:cs typeface="Cascadia Mono SemiBold" panose="020B0609020000020004" pitchFamily="49" charset="0"/>
              </a:rPr>
              <a:t>0.1. Installing Java</a:t>
            </a:r>
          </a:p>
        </p:txBody>
      </p:sp>
      <p:sp>
        <p:nvSpPr>
          <p:cNvPr id="3" name="Content Placeholder 2">
            <a:extLst>
              <a:ext uri="{FF2B5EF4-FFF2-40B4-BE49-F238E27FC236}">
                <a16:creationId xmlns:a16="http://schemas.microsoft.com/office/drawing/2014/main" id="{D351ED12-3CA0-82FD-3129-FD96E5A20A43}"/>
              </a:ext>
            </a:extLst>
          </p:cNvPr>
          <p:cNvSpPr>
            <a:spLocks noGrp="1"/>
          </p:cNvSpPr>
          <p:nvPr>
            <p:ph idx="1"/>
          </p:nvPr>
        </p:nvSpPr>
        <p:spPr>
          <a:xfrm>
            <a:off x="947057" y="1690689"/>
            <a:ext cx="10297886" cy="2500310"/>
          </a:xfrm>
        </p:spPr>
        <p:txBody>
          <a:bodyPr>
            <a:normAutofit/>
          </a:bodyPr>
          <a:lstStyle/>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You need to have java installed in order to run this.</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Not sure if you have java?</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Check if you have java installed by running the following command in the terminal: </a:t>
            </a:r>
            <a:r>
              <a:rPr lang="en-IN" sz="2400" dirty="0">
                <a:solidFill>
                  <a:schemeClr val="bg1"/>
                </a:solidFill>
                <a:highlight>
                  <a:srgbClr val="EC3750"/>
                </a:highlight>
                <a:latin typeface="Cascadia Code" panose="020B0609020000020004" pitchFamily="49" charset="0"/>
                <a:ea typeface="Cascadia Code" panose="020B0609020000020004" pitchFamily="49" charset="0"/>
                <a:cs typeface="Cascadia Code" panose="020B0609020000020004" pitchFamily="49" charset="0"/>
              </a:rPr>
              <a:t> </a:t>
            </a:r>
            <a:r>
              <a:rPr lang="en-IN" sz="2400" b="1" dirty="0">
                <a:solidFill>
                  <a:schemeClr val="bg1"/>
                </a:solidFill>
                <a:highlight>
                  <a:srgbClr val="EC3750"/>
                </a:highlight>
                <a:latin typeface="Cascadia Code" panose="020B0609020000020004" pitchFamily="49" charset="0"/>
                <a:ea typeface="Cascadia Code" panose="020B0609020000020004" pitchFamily="49" charset="0"/>
                <a:cs typeface="Cascadia Code" panose="020B0609020000020004" pitchFamily="49" charset="0"/>
              </a:rPr>
              <a:t>java –help </a:t>
            </a:r>
            <a:r>
              <a:rPr lang="en-IN" sz="2400" b="1" dirty="0">
                <a:latin typeface="Cascadia Code" panose="020B0609020000020004" pitchFamily="49" charset="0"/>
                <a:ea typeface="Cascadia Code" panose="020B0609020000020004" pitchFamily="49" charset="0"/>
                <a:cs typeface="Cascadia Code" panose="020B0609020000020004" pitchFamily="49" charset="0"/>
              </a:rPr>
              <a:t> </a:t>
            </a:r>
            <a:r>
              <a:rPr lang="en-IN" sz="2400" dirty="0">
                <a:latin typeface="Cascadia Code" panose="020B0609020000020004" pitchFamily="49" charset="0"/>
                <a:ea typeface="Cascadia Code" panose="020B0609020000020004" pitchFamily="49" charset="0"/>
                <a:cs typeface="Cascadia Code" panose="020B0609020000020004" pitchFamily="49" charset="0"/>
              </a:rPr>
              <a:t>and it should print the java help text if you have installed java.</a:t>
            </a:r>
          </a:p>
        </p:txBody>
      </p:sp>
      <p:sp>
        <p:nvSpPr>
          <p:cNvPr id="4" name="Rectangle 3">
            <a:hlinkClick r:id="rId2" action="ppaction://hlinksldjump"/>
            <a:extLst>
              <a:ext uri="{FF2B5EF4-FFF2-40B4-BE49-F238E27FC236}">
                <a16:creationId xmlns:a16="http://schemas.microsoft.com/office/drawing/2014/main" id="{56AD9196-252B-8EA3-7879-827266F9D24E}"/>
              </a:ext>
            </a:extLst>
          </p:cNvPr>
          <p:cNvSpPr/>
          <p:nvPr/>
        </p:nvSpPr>
        <p:spPr>
          <a:xfrm>
            <a:off x="1415143" y="4463142"/>
            <a:ext cx="9361714" cy="794657"/>
          </a:xfrm>
          <a:prstGeom prst="rect">
            <a:avLst/>
          </a:prstGeom>
          <a:solidFill>
            <a:srgbClr val="EC3750"/>
          </a:solidFill>
          <a:ln w="76200">
            <a:solidFill>
              <a:srgbClr val="EC37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latin typeface="Cascadia Code" panose="020B0609020000020004" pitchFamily="49" charset="0"/>
                <a:ea typeface="Cascadia Code" panose="020B0609020000020004" pitchFamily="49" charset="0"/>
                <a:cs typeface="Cascadia Code" panose="020B0609020000020004" pitchFamily="49" charset="0"/>
              </a:rPr>
              <a:t>I have java installed.</a:t>
            </a:r>
          </a:p>
        </p:txBody>
      </p:sp>
      <p:sp>
        <p:nvSpPr>
          <p:cNvPr id="5" name="Rectangle 4">
            <a:hlinkClick r:id="rId3" action="ppaction://hlinksldjump"/>
            <a:extLst>
              <a:ext uri="{FF2B5EF4-FFF2-40B4-BE49-F238E27FC236}">
                <a16:creationId xmlns:a16="http://schemas.microsoft.com/office/drawing/2014/main" id="{5344E28A-40FC-8672-90B1-19FC2982EFF0}"/>
              </a:ext>
            </a:extLst>
          </p:cNvPr>
          <p:cNvSpPr/>
          <p:nvPr/>
        </p:nvSpPr>
        <p:spPr>
          <a:xfrm>
            <a:off x="1415143" y="5529942"/>
            <a:ext cx="9361714" cy="794657"/>
          </a:xfrm>
          <a:prstGeom prst="rect">
            <a:avLst/>
          </a:prstGeom>
          <a:solidFill>
            <a:srgbClr val="EC3750"/>
          </a:solidFill>
          <a:ln w="76200">
            <a:solidFill>
              <a:srgbClr val="EC37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latin typeface="Cascadia Code" panose="020B0609020000020004" pitchFamily="49" charset="0"/>
                <a:ea typeface="Cascadia Code" panose="020B0609020000020004" pitchFamily="49" charset="0"/>
                <a:cs typeface="Cascadia Code" panose="020B0609020000020004" pitchFamily="49" charset="0"/>
              </a:rPr>
              <a:t>I do not have java installed.</a:t>
            </a:r>
          </a:p>
        </p:txBody>
      </p:sp>
      <p:pic>
        <p:nvPicPr>
          <p:cNvPr id="2054" name="Picture 6" descr="Click PNG para descargar gratis">
            <a:extLst>
              <a:ext uri="{FF2B5EF4-FFF2-40B4-BE49-F238E27FC236}">
                <a16:creationId xmlns:a16="http://schemas.microsoft.com/office/drawing/2014/main" id="{A98DD296-F578-FFB8-1AA7-8B5722BD97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1312" y="4802187"/>
            <a:ext cx="1690688" cy="169068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java programming language java logo 48332150 PNG">
            <a:extLst>
              <a:ext uri="{FF2B5EF4-FFF2-40B4-BE49-F238E27FC236}">
                <a16:creationId xmlns:a16="http://schemas.microsoft.com/office/drawing/2014/main" id="{2AC6B802-601A-2CCE-7BDD-B92D5FC503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5432" y="220209"/>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0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30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0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4330331-CE70-762B-1248-EE1CA39C4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1E114-0A40-A73E-23D4-04BB398F0573}"/>
              </a:ext>
            </a:extLst>
          </p:cNvPr>
          <p:cNvSpPr>
            <a:spLocks noGrp="1"/>
          </p:cNvSpPr>
          <p:nvPr>
            <p:ph type="title"/>
          </p:nvPr>
        </p:nvSpPr>
        <p:spPr/>
        <p:txBody>
          <a:bodyPr/>
          <a:lstStyle/>
          <a:p>
            <a:r>
              <a:rPr lang="en-IN" b="1" dirty="0">
                <a:solidFill>
                  <a:srgbClr val="EC3750"/>
                </a:solidFill>
                <a:latin typeface="Cascadia Mono SemiBold" panose="020B0609020000020004" pitchFamily="49" charset="0"/>
                <a:ea typeface="Cascadia Mono SemiBold" panose="020B0609020000020004" pitchFamily="49" charset="0"/>
                <a:cs typeface="Cascadia Mono SemiBold" panose="020B0609020000020004" pitchFamily="49" charset="0"/>
              </a:rPr>
              <a:t>0.1. Installing Java</a:t>
            </a:r>
          </a:p>
        </p:txBody>
      </p:sp>
      <p:sp>
        <p:nvSpPr>
          <p:cNvPr id="3" name="Content Placeholder 2">
            <a:extLst>
              <a:ext uri="{FF2B5EF4-FFF2-40B4-BE49-F238E27FC236}">
                <a16:creationId xmlns:a16="http://schemas.microsoft.com/office/drawing/2014/main" id="{8FE97315-003B-5F64-DB27-C4893246D467}"/>
              </a:ext>
            </a:extLst>
          </p:cNvPr>
          <p:cNvSpPr>
            <a:spLocks noGrp="1"/>
          </p:cNvSpPr>
          <p:nvPr>
            <p:ph idx="1"/>
          </p:nvPr>
        </p:nvSpPr>
        <p:spPr>
          <a:xfrm>
            <a:off x="947057" y="1690689"/>
            <a:ext cx="10297886" cy="2500310"/>
          </a:xfrm>
        </p:spPr>
        <p:txBody>
          <a:bodyPr>
            <a:normAutofit/>
          </a:bodyPr>
          <a:lstStyle/>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Bruh... You don’t have java? :skull:</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Install java from </a:t>
            </a:r>
            <a:r>
              <a:rPr lang="en-IN" sz="2400" dirty="0">
                <a:latin typeface="Cascadia Code" panose="020B0609020000020004" pitchFamily="49" charset="0"/>
                <a:ea typeface="Cascadia Code" panose="020B0609020000020004" pitchFamily="49" charset="0"/>
                <a:cs typeface="Cascadia Code" panose="020B0609020000020004" pitchFamily="49" charset="0"/>
                <a:hlinkClick r:id="rId2"/>
              </a:rPr>
              <a:t>this website</a:t>
            </a:r>
            <a:r>
              <a:rPr lang="en-IN" sz="2400" dirty="0">
                <a:latin typeface="Cascadia Code" panose="020B0609020000020004" pitchFamily="49" charset="0"/>
                <a:ea typeface="Cascadia Code" panose="020B0609020000020004" pitchFamily="49" charset="0"/>
                <a:cs typeface="Cascadia Code" panose="020B0609020000020004" pitchFamily="49" charset="0"/>
              </a:rPr>
              <a:t>. Just get the latest version. While installing, make sure to add it to the PATH in your system!</a:t>
            </a:r>
          </a:p>
        </p:txBody>
      </p:sp>
      <p:pic>
        <p:nvPicPr>
          <p:cNvPr id="2056" name="Picture 8" descr="java programming language java logo 48332150 PNG">
            <a:extLst>
              <a:ext uri="{FF2B5EF4-FFF2-40B4-BE49-F238E27FC236}">
                <a16:creationId xmlns:a16="http://schemas.microsoft.com/office/drawing/2014/main" id="{9EB6557F-19DC-8AEB-03F1-9AEEADB71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5432" y="220209"/>
            <a:ext cx="1325563" cy="13255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Where are we?!">
            <a:extLst>
              <a:ext uri="{FF2B5EF4-FFF2-40B4-BE49-F238E27FC236}">
                <a16:creationId xmlns:a16="http://schemas.microsoft.com/office/drawing/2014/main" id="{98B21210-9F46-CB56-35C2-752EEE61F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8213" y="3429000"/>
            <a:ext cx="2817019"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613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508D-7A18-8F4A-56D7-D2643598FF7B}"/>
              </a:ext>
            </a:extLst>
          </p:cNvPr>
          <p:cNvSpPr>
            <a:spLocks noGrp="1"/>
          </p:cNvSpPr>
          <p:nvPr>
            <p:ph type="title"/>
          </p:nvPr>
        </p:nvSpPr>
        <p:spPr/>
        <p:txBody>
          <a:bodyPr/>
          <a:lstStyle/>
          <a:p>
            <a:r>
              <a:rPr lang="en-IN" b="1" dirty="0">
                <a:solidFill>
                  <a:srgbClr val="EC3750"/>
                </a:solidFill>
                <a:latin typeface="Cascadia Mono SemiBold" panose="020B0609020000020004" pitchFamily="49" charset="0"/>
                <a:ea typeface="Cascadia Mono SemiBold" panose="020B0609020000020004" pitchFamily="49" charset="0"/>
                <a:cs typeface="Cascadia Mono SemiBold" panose="020B0609020000020004" pitchFamily="49" charset="0"/>
              </a:rPr>
              <a:t>1. Open Main.jar</a:t>
            </a:r>
          </a:p>
        </p:txBody>
      </p:sp>
      <p:sp>
        <p:nvSpPr>
          <p:cNvPr id="3" name="Content Placeholder 2">
            <a:extLst>
              <a:ext uri="{FF2B5EF4-FFF2-40B4-BE49-F238E27FC236}">
                <a16:creationId xmlns:a16="http://schemas.microsoft.com/office/drawing/2014/main" id="{5B08877F-C439-55B7-9CFB-D08C3811E615}"/>
              </a:ext>
            </a:extLst>
          </p:cNvPr>
          <p:cNvSpPr>
            <a:spLocks noGrp="1"/>
          </p:cNvSpPr>
          <p:nvPr>
            <p:ph idx="1"/>
          </p:nvPr>
        </p:nvSpPr>
        <p:spPr>
          <a:xfrm>
            <a:off x="838200" y="1690688"/>
            <a:ext cx="10515600" cy="4351338"/>
          </a:xfrm>
        </p:spPr>
        <p:txBody>
          <a:bodyPr>
            <a:normAutofit/>
          </a:bodyPr>
          <a:lstStyle/>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A .jar file is a compiled java executable.</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Open the folder where Main.jar is located. Then right click and select “Open in Terminal”</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Run </a:t>
            </a:r>
            <a:r>
              <a:rPr lang="en-IN" sz="2400" dirty="0">
                <a:solidFill>
                  <a:schemeClr val="bg1"/>
                </a:solidFill>
                <a:highlight>
                  <a:srgbClr val="EC3750"/>
                </a:highlight>
                <a:latin typeface="Cascadia Code" panose="020B0609020000020004" pitchFamily="49" charset="0"/>
                <a:ea typeface="Cascadia Code" panose="020B0609020000020004" pitchFamily="49" charset="0"/>
                <a:cs typeface="Cascadia Code" panose="020B0609020000020004" pitchFamily="49" charset="0"/>
              </a:rPr>
              <a:t> java –jar Main.jar </a:t>
            </a:r>
            <a:r>
              <a:rPr lang="en-IN" sz="240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 </a:t>
            </a:r>
            <a:r>
              <a:rPr lang="en-IN" sz="2400" dirty="0">
                <a:latin typeface="Cascadia Code" panose="020B0609020000020004" pitchFamily="49" charset="0"/>
                <a:ea typeface="Cascadia Code" panose="020B0609020000020004" pitchFamily="49" charset="0"/>
                <a:cs typeface="Cascadia Code" panose="020B0609020000020004" pitchFamily="49" charset="0"/>
              </a:rPr>
              <a:t>and it should open.</a:t>
            </a:r>
          </a:p>
        </p:txBody>
      </p:sp>
      <p:pic>
        <p:nvPicPr>
          <p:cNvPr id="6" name="Picture 5" descr="A screenshot of the app.">
            <a:extLst>
              <a:ext uri="{FF2B5EF4-FFF2-40B4-BE49-F238E27FC236}">
                <a16:creationId xmlns:a16="http://schemas.microsoft.com/office/drawing/2014/main" id="{8DFEBD37-A98A-0088-A3E5-32FF09012873}"/>
              </a:ext>
            </a:extLst>
          </p:cNvPr>
          <p:cNvPicPr>
            <a:picLocks noChangeAspect="1"/>
          </p:cNvPicPr>
          <p:nvPr/>
        </p:nvPicPr>
        <p:blipFill>
          <a:blip r:embed="rId2"/>
          <a:stretch>
            <a:fillRect/>
          </a:stretch>
        </p:blipFill>
        <p:spPr>
          <a:xfrm>
            <a:off x="1026886" y="3666410"/>
            <a:ext cx="3523446" cy="2826465"/>
          </a:xfrm>
          <a:prstGeom prst="rect">
            <a:avLst/>
          </a:prstGeom>
        </p:spPr>
      </p:pic>
      <p:sp>
        <p:nvSpPr>
          <p:cNvPr id="7" name="TextBox 6">
            <a:extLst>
              <a:ext uri="{FF2B5EF4-FFF2-40B4-BE49-F238E27FC236}">
                <a16:creationId xmlns:a16="http://schemas.microsoft.com/office/drawing/2014/main" id="{47BFDAEF-6041-2AA4-7A85-75BE0D9A1599}"/>
              </a:ext>
            </a:extLst>
          </p:cNvPr>
          <p:cNvSpPr txBox="1"/>
          <p:nvPr/>
        </p:nvSpPr>
        <p:spPr>
          <a:xfrm rot="21104946">
            <a:off x="4931798" y="3656290"/>
            <a:ext cx="3958771" cy="369332"/>
          </a:xfrm>
          <a:prstGeom prst="rect">
            <a:avLst/>
          </a:prstGeom>
          <a:noFill/>
        </p:spPr>
        <p:txBody>
          <a:bodyPr wrap="square" rtlCol="0">
            <a:spAutoFit/>
          </a:bodyPr>
          <a:lstStyle/>
          <a:p>
            <a:r>
              <a:rPr lang="en-IN" b="1" dirty="0">
                <a:latin typeface="Cascadia Code" panose="020B0609020000020004" pitchFamily="49" charset="0"/>
                <a:ea typeface="Cascadia Code" panose="020B0609020000020004" pitchFamily="49" charset="0"/>
                <a:cs typeface="Cascadia Code" panose="020B0609020000020004" pitchFamily="49" charset="0"/>
              </a:rPr>
              <a:t>&lt;--Something like this…</a:t>
            </a:r>
          </a:p>
        </p:txBody>
      </p:sp>
      <p:pic>
        <p:nvPicPr>
          <p:cNvPr id="2050" name="Picture 2">
            <a:extLst>
              <a:ext uri="{FF2B5EF4-FFF2-40B4-BE49-F238E27FC236}">
                <a16:creationId xmlns:a16="http://schemas.microsoft.com/office/drawing/2014/main" id="{6CDC44B9-CBE7-EA3A-98A1-719999B98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6629" y="483621"/>
            <a:ext cx="1088571" cy="108857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oba Drops">
            <a:extLst>
              <a:ext uri="{FF2B5EF4-FFF2-40B4-BE49-F238E27FC236}">
                <a16:creationId xmlns:a16="http://schemas.microsoft.com/office/drawing/2014/main" id="{12DF3302-CBEF-CE2F-DCBB-1382EA2079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6023" y="4060370"/>
            <a:ext cx="2143230" cy="2683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14389"/>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B2414D82-CF56-B5C3-8D13-027997B82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1AD97-7B93-2900-6BB7-4724387E89DD}"/>
              </a:ext>
            </a:extLst>
          </p:cNvPr>
          <p:cNvSpPr>
            <a:spLocks noGrp="1"/>
          </p:cNvSpPr>
          <p:nvPr>
            <p:ph type="title"/>
          </p:nvPr>
        </p:nvSpPr>
        <p:spPr/>
        <p:txBody>
          <a:bodyPr/>
          <a:lstStyle/>
          <a:p>
            <a:r>
              <a:rPr lang="en-IN" b="1" dirty="0">
                <a:solidFill>
                  <a:srgbClr val="EC3750"/>
                </a:solidFill>
                <a:latin typeface="Cascadia Mono SemiBold" panose="020B0609020000020004" pitchFamily="49" charset="0"/>
                <a:ea typeface="Cascadia Mono SemiBold" panose="020B0609020000020004" pitchFamily="49" charset="0"/>
                <a:cs typeface="Cascadia Mono SemiBold" panose="020B0609020000020004" pitchFamily="49" charset="0"/>
              </a:rPr>
              <a:t>2. do stuff!</a:t>
            </a:r>
          </a:p>
        </p:txBody>
      </p:sp>
      <p:sp>
        <p:nvSpPr>
          <p:cNvPr id="3" name="Content Placeholder 2">
            <a:extLst>
              <a:ext uri="{FF2B5EF4-FFF2-40B4-BE49-F238E27FC236}">
                <a16:creationId xmlns:a16="http://schemas.microsoft.com/office/drawing/2014/main" id="{FB4F1623-B60D-E147-D7F5-E737BE6E2213}"/>
              </a:ext>
            </a:extLst>
          </p:cNvPr>
          <p:cNvSpPr>
            <a:spLocks noGrp="1"/>
          </p:cNvSpPr>
          <p:nvPr>
            <p:ph idx="1"/>
          </p:nvPr>
        </p:nvSpPr>
        <p:spPr>
          <a:xfrm>
            <a:off x="838200" y="1690688"/>
            <a:ext cx="4203700" cy="4913312"/>
          </a:xfrm>
        </p:spPr>
        <p:txBody>
          <a:bodyPr>
            <a:normAutofit/>
          </a:bodyPr>
          <a:lstStyle/>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Draw numbers on the black screen on the left side.</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As you draw, the network will try to guess which number you’re drawing.</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The confidence values of each number is shown as bars on the right side.</a:t>
            </a:r>
          </a:p>
          <a:p>
            <a:pPr marL="0" indent="0">
              <a:buNone/>
            </a:pPr>
            <a:r>
              <a:rPr lang="en-IN" sz="2400" dirty="0">
                <a:latin typeface="Cascadia Code" panose="020B0609020000020004" pitchFamily="49" charset="0"/>
                <a:ea typeface="Cascadia Code" panose="020B0609020000020004" pitchFamily="49" charset="0"/>
                <a:cs typeface="Cascadia Code" panose="020B0609020000020004" pitchFamily="49" charset="0"/>
              </a:rPr>
              <a:t>Press the Reset button to erase the screen.</a:t>
            </a:r>
          </a:p>
        </p:txBody>
      </p:sp>
      <p:pic>
        <p:nvPicPr>
          <p:cNvPr id="5" name="Picture 4">
            <a:extLst>
              <a:ext uri="{FF2B5EF4-FFF2-40B4-BE49-F238E27FC236}">
                <a16:creationId xmlns:a16="http://schemas.microsoft.com/office/drawing/2014/main" id="{8DB849AC-3945-801A-C760-B0A9E7B956A5}"/>
              </a:ext>
            </a:extLst>
          </p:cNvPr>
          <p:cNvPicPr>
            <a:picLocks noChangeAspect="1"/>
          </p:cNvPicPr>
          <p:nvPr/>
        </p:nvPicPr>
        <p:blipFill>
          <a:blip r:embed="rId3"/>
          <a:stretch>
            <a:fillRect/>
          </a:stretch>
        </p:blipFill>
        <p:spPr>
          <a:xfrm>
            <a:off x="5357585" y="1617853"/>
            <a:ext cx="6398987" cy="4986147"/>
          </a:xfrm>
          <a:prstGeom prst="rect">
            <a:avLst/>
          </a:prstGeom>
        </p:spPr>
      </p:pic>
      <p:cxnSp>
        <p:nvCxnSpPr>
          <p:cNvPr id="10" name="Connector: Elbow 9">
            <a:extLst>
              <a:ext uri="{FF2B5EF4-FFF2-40B4-BE49-F238E27FC236}">
                <a16:creationId xmlns:a16="http://schemas.microsoft.com/office/drawing/2014/main" id="{BF71593D-66C8-D92E-0097-55DF42E07720}"/>
              </a:ext>
            </a:extLst>
          </p:cNvPr>
          <p:cNvCxnSpPr>
            <a:cxnSpLocks/>
          </p:cNvCxnSpPr>
          <p:nvPr/>
        </p:nvCxnSpPr>
        <p:spPr>
          <a:xfrm flipV="1">
            <a:off x="4528457" y="6106886"/>
            <a:ext cx="1240972" cy="174652"/>
          </a:xfrm>
          <a:prstGeom prst="bentConnector3">
            <a:avLst>
              <a:gd name="adj1" fmla="val 50000"/>
            </a:avLst>
          </a:prstGeom>
          <a:ln w="57150">
            <a:solidFill>
              <a:srgbClr val="EC375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0" descr="Orpheus Skateboarding PCB">
            <a:extLst>
              <a:ext uri="{FF2B5EF4-FFF2-40B4-BE49-F238E27FC236}">
                <a16:creationId xmlns:a16="http://schemas.microsoft.com/office/drawing/2014/main" id="{59ADDF5E-C4B7-356A-29B8-43BF8CA60F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5443" y="516739"/>
            <a:ext cx="1166220" cy="102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727960"/>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B55F44A-9719-3027-15C7-DA254A389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717D1-9599-684A-2016-5113F6B79EA1}"/>
              </a:ext>
            </a:extLst>
          </p:cNvPr>
          <p:cNvSpPr>
            <a:spLocks noGrp="1"/>
          </p:cNvSpPr>
          <p:nvPr>
            <p:ph type="title"/>
          </p:nvPr>
        </p:nvSpPr>
        <p:spPr/>
        <p:txBody>
          <a:bodyPr/>
          <a:lstStyle/>
          <a:p>
            <a:r>
              <a:rPr lang="en-IN" b="1" dirty="0">
                <a:solidFill>
                  <a:srgbClr val="EC3750"/>
                </a:solidFill>
                <a:latin typeface="Cascadia Mono SemiBold" panose="020B0609020000020004" pitchFamily="49" charset="0"/>
                <a:ea typeface="Cascadia Mono SemiBold" panose="020B0609020000020004" pitchFamily="49" charset="0"/>
                <a:cs typeface="Cascadia Mono SemiBold" panose="020B0609020000020004" pitchFamily="49" charset="0"/>
              </a:rPr>
              <a:t>3. train stuff!</a:t>
            </a:r>
          </a:p>
        </p:txBody>
      </p:sp>
      <p:sp>
        <p:nvSpPr>
          <p:cNvPr id="3" name="Content Placeholder 2">
            <a:extLst>
              <a:ext uri="{FF2B5EF4-FFF2-40B4-BE49-F238E27FC236}">
                <a16:creationId xmlns:a16="http://schemas.microsoft.com/office/drawing/2014/main" id="{E83D9EEB-6913-6A19-165D-688F8D7EE822}"/>
              </a:ext>
            </a:extLst>
          </p:cNvPr>
          <p:cNvSpPr>
            <a:spLocks noGrp="1"/>
          </p:cNvSpPr>
          <p:nvPr>
            <p:ph idx="1"/>
          </p:nvPr>
        </p:nvSpPr>
        <p:spPr>
          <a:xfrm>
            <a:off x="838200" y="1219200"/>
            <a:ext cx="4811486" cy="5273675"/>
          </a:xfrm>
        </p:spPr>
        <p:txBody>
          <a:bodyPr>
            <a:noAutofit/>
          </a:bodyPr>
          <a:lstStyle/>
          <a:p>
            <a:pPr marL="0" indent="0">
              <a:buNone/>
            </a:pPr>
            <a:r>
              <a:rPr lang="en-IN" sz="2000" dirty="0">
                <a:latin typeface="Cascadia Code" panose="020B0609020000020004" pitchFamily="49" charset="0"/>
                <a:ea typeface="Cascadia Code" panose="020B0609020000020004" pitchFamily="49" charset="0"/>
                <a:cs typeface="Cascadia Code" panose="020B0609020000020004" pitchFamily="49" charset="0"/>
              </a:rPr>
              <a:t>You can add your own samples to the training data! Draw the number on the screen, then select which number you drew with this spinner and press the “Add Sample” button.</a:t>
            </a:r>
          </a:p>
          <a:p>
            <a:pPr marL="0" indent="0">
              <a:buNone/>
            </a:pPr>
            <a:r>
              <a:rPr lang="en-IN" sz="2000" dirty="0">
                <a:latin typeface="Cascadia Code" panose="020B0609020000020004" pitchFamily="49" charset="0"/>
                <a:ea typeface="Cascadia Code" panose="020B0609020000020004" pitchFamily="49" charset="0"/>
                <a:cs typeface="Cascadia Code" panose="020B0609020000020004" pitchFamily="49" charset="0"/>
              </a:rPr>
              <a:t>This wont take effect until you retrain the network by running Train.jar and reopen the program. To run Train.jar, open the terminal in that directory and run java –jar Train.jar and wait for it to say TRAINING DONE</a:t>
            </a:r>
          </a:p>
          <a:p>
            <a:pPr marL="0" indent="0">
              <a:buNone/>
            </a:pPr>
            <a:r>
              <a:rPr lang="en-IN" sz="2000" dirty="0">
                <a:latin typeface="Cascadia Code" panose="020B0609020000020004" pitchFamily="49" charset="0"/>
                <a:ea typeface="Cascadia Code" panose="020B0609020000020004" pitchFamily="49" charset="0"/>
                <a:cs typeface="Cascadia Code" panose="020B0609020000020004" pitchFamily="49" charset="0"/>
              </a:rPr>
              <a:t>Since there are thousands of training samples from MNIST you need to have a lot of samples to make a difference and retraining will take very long</a:t>
            </a:r>
          </a:p>
        </p:txBody>
      </p:sp>
      <p:pic>
        <p:nvPicPr>
          <p:cNvPr id="9" name="Picture 8">
            <a:extLst>
              <a:ext uri="{FF2B5EF4-FFF2-40B4-BE49-F238E27FC236}">
                <a16:creationId xmlns:a16="http://schemas.microsoft.com/office/drawing/2014/main" id="{AB4B0894-6FBA-6392-E589-C77901ED8A19}"/>
              </a:ext>
            </a:extLst>
          </p:cNvPr>
          <p:cNvPicPr>
            <a:picLocks noChangeAspect="1"/>
          </p:cNvPicPr>
          <p:nvPr/>
        </p:nvPicPr>
        <p:blipFill>
          <a:blip r:embed="rId3"/>
          <a:stretch>
            <a:fillRect/>
          </a:stretch>
        </p:blipFill>
        <p:spPr>
          <a:xfrm>
            <a:off x="5747656" y="1745408"/>
            <a:ext cx="6027097" cy="4820571"/>
          </a:xfrm>
          <a:prstGeom prst="rect">
            <a:avLst/>
          </a:prstGeom>
        </p:spPr>
      </p:pic>
      <p:sp>
        <p:nvSpPr>
          <p:cNvPr id="16" name="Arrow: Up 15">
            <a:extLst>
              <a:ext uri="{FF2B5EF4-FFF2-40B4-BE49-F238E27FC236}">
                <a16:creationId xmlns:a16="http://schemas.microsoft.com/office/drawing/2014/main" id="{0ABEAFDE-6DBC-B4C0-B088-3361A2851CE1}"/>
              </a:ext>
            </a:extLst>
          </p:cNvPr>
          <p:cNvSpPr/>
          <p:nvPr/>
        </p:nvSpPr>
        <p:spPr>
          <a:xfrm rot="8545122">
            <a:off x="6758520" y="5224741"/>
            <a:ext cx="281509" cy="685800"/>
          </a:xfrm>
          <a:prstGeom prst="upArrow">
            <a:avLst/>
          </a:prstGeom>
          <a:solidFill>
            <a:srgbClr val="EC3750"/>
          </a:solidFill>
          <a:ln>
            <a:solidFill>
              <a:srgbClr val="EC37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Up 16">
            <a:extLst>
              <a:ext uri="{FF2B5EF4-FFF2-40B4-BE49-F238E27FC236}">
                <a16:creationId xmlns:a16="http://schemas.microsoft.com/office/drawing/2014/main" id="{5E0B250C-DB80-B230-F738-4EEE26EE8228}"/>
              </a:ext>
            </a:extLst>
          </p:cNvPr>
          <p:cNvSpPr/>
          <p:nvPr/>
        </p:nvSpPr>
        <p:spPr>
          <a:xfrm rot="10006499">
            <a:off x="7786333" y="5147338"/>
            <a:ext cx="281509" cy="685800"/>
          </a:xfrm>
          <a:prstGeom prst="upArrow">
            <a:avLst/>
          </a:prstGeom>
          <a:solidFill>
            <a:srgbClr val="EC3750"/>
          </a:solidFill>
          <a:ln>
            <a:solidFill>
              <a:srgbClr val="EC37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a:extLst>
              <a:ext uri="{FF2B5EF4-FFF2-40B4-BE49-F238E27FC236}">
                <a16:creationId xmlns:a16="http://schemas.microsoft.com/office/drawing/2014/main" id="{F24BE8C1-3923-86D5-F756-259E2C563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7097" y="365125"/>
            <a:ext cx="1143000" cy="114300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6246C75-1A91-D364-89C7-AC76207CB000}"/>
              </a:ext>
            </a:extLst>
          </p:cNvPr>
          <p:cNvSpPr txBox="1"/>
          <p:nvPr/>
        </p:nvSpPr>
        <p:spPr>
          <a:xfrm>
            <a:off x="838200" y="6642556"/>
            <a:ext cx="3276600" cy="215444"/>
          </a:xfrm>
          <a:prstGeom prst="rect">
            <a:avLst/>
          </a:prstGeom>
          <a:noFill/>
        </p:spPr>
        <p:txBody>
          <a:bodyPr wrap="square" rtlCol="0">
            <a:spAutoFit/>
          </a:bodyPr>
          <a:lstStyle/>
          <a:p>
            <a:r>
              <a:rPr lang="en-IN" sz="8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tl;dr</a:t>
            </a:r>
            <a:r>
              <a:rPr lang="en-IN" sz="8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IN" sz="800" dirty="0">
                <a:latin typeface="Cascadia Code" panose="020B0609020000020004" pitchFamily="49" charset="0"/>
                <a:ea typeface="Cascadia Code" panose="020B0609020000020004" pitchFamily="49" charset="0"/>
                <a:cs typeface="Cascadia Code" panose="020B0609020000020004" pitchFamily="49" charset="0"/>
              </a:rPr>
              <a:t>just</a:t>
            </a:r>
            <a:r>
              <a:rPr lang="en-IN" sz="8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IN" sz="8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dont</a:t>
            </a:r>
            <a:r>
              <a:rPr lang="en-IN" sz="800" dirty="0">
                <a:latin typeface="Cascadia Code SemiBold" panose="020B0609020000020004" pitchFamily="49" charset="0"/>
                <a:ea typeface="Cascadia Code SemiBold" panose="020B0609020000020004" pitchFamily="49" charset="0"/>
                <a:cs typeface="Cascadia Code SemiBold" panose="020B0609020000020004" pitchFamily="49" charset="0"/>
              </a:rPr>
              <a:t> train it</a:t>
            </a:r>
          </a:p>
        </p:txBody>
      </p:sp>
    </p:spTree>
    <p:extLst>
      <p:ext uri="{BB962C8B-B14F-4D97-AF65-F5344CB8AC3E}">
        <p14:creationId xmlns:p14="http://schemas.microsoft.com/office/powerpoint/2010/main" val="2188392900"/>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5CBFEA35-62C6-DA1E-2C00-DCBC5FCE4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C0271-124E-376A-4CFE-F50CF72876C9}"/>
              </a:ext>
            </a:extLst>
          </p:cNvPr>
          <p:cNvSpPr>
            <a:spLocks noGrp="1"/>
          </p:cNvSpPr>
          <p:nvPr>
            <p:ph type="title"/>
          </p:nvPr>
        </p:nvSpPr>
        <p:spPr/>
        <p:txBody>
          <a:bodyPr/>
          <a:lstStyle/>
          <a:p>
            <a:r>
              <a:rPr lang="en-IN" b="1" dirty="0">
                <a:solidFill>
                  <a:srgbClr val="EC3750"/>
                </a:solidFill>
                <a:latin typeface="Cascadia Mono SemiBold" panose="020B0609020000020004" pitchFamily="49" charset="0"/>
                <a:ea typeface="Cascadia Mono SemiBold" panose="020B0609020000020004" pitchFamily="49" charset="0"/>
                <a:cs typeface="Cascadia Mono SemiBold" panose="020B0609020000020004" pitchFamily="49" charset="0"/>
              </a:rPr>
              <a:t>4. fix stuff</a:t>
            </a:r>
          </a:p>
        </p:txBody>
      </p:sp>
      <p:sp>
        <p:nvSpPr>
          <p:cNvPr id="3" name="Content Placeholder 2">
            <a:extLst>
              <a:ext uri="{FF2B5EF4-FFF2-40B4-BE49-F238E27FC236}">
                <a16:creationId xmlns:a16="http://schemas.microsoft.com/office/drawing/2014/main" id="{411D0B9C-A865-B9A9-95FC-565068A39FB1}"/>
              </a:ext>
            </a:extLst>
          </p:cNvPr>
          <p:cNvSpPr>
            <a:spLocks noGrp="1"/>
          </p:cNvSpPr>
          <p:nvPr>
            <p:ph idx="1"/>
          </p:nvPr>
        </p:nvSpPr>
        <p:spPr>
          <a:xfrm>
            <a:off x="838200" y="1690688"/>
            <a:ext cx="10657114" cy="4913312"/>
          </a:xfrm>
        </p:spPr>
        <p:txBody>
          <a:bodyPr>
            <a:normAutofit/>
          </a:bodyPr>
          <a:lstStyle/>
          <a:p>
            <a:pPr marL="0" indent="0">
              <a:buNone/>
            </a:pPr>
            <a:r>
              <a:rPr lang="en-IN" sz="2000" dirty="0">
                <a:latin typeface="Cascadia Code" panose="020B0609020000020004" pitchFamily="49" charset="0"/>
                <a:ea typeface="Cascadia Code" panose="020B0609020000020004" pitchFamily="49" charset="0"/>
                <a:cs typeface="Cascadia Code" panose="020B0609020000020004" pitchFamily="49" charset="0"/>
              </a:rPr>
              <a:t>troubleshooting!</a:t>
            </a:r>
          </a:p>
          <a:p>
            <a:pPr marL="0" indent="0">
              <a:buNone/>
            </a:pPr>
            <a:r>
              <a:rPr lang="en-US" sz="2000" dirty="0">
                <a:latin typeface="Cascadia Code" panose="020B0609020000020004" pitchFamily="49" charset="0"/>
                <a:ea typeface="Cascadia Code" panose="020B0609020000020004" pitchFamily="49" charset="0"/>
                <a:cs typeface="Cascadia Code" panose="020B0609020000020004" pitchFamily="49" charset="0"/>
              </a:rPr>
              <a:t>1. java : The term ‘java' is not recognized as the name of a cmdlet, function, script file, or operable program.</a:t>
            </a:r>
          </a:p>
          <a:p>
            <a:pPr marL="0" indent="0">
              <a:buNone/>
            </a:pPr>
            <a:r>
              <a:rPr lang="en-US" sz="2000" dirty="0">
                <a:latin typeface="Cascadia Code" panose="020B0609020000020004" pitchFamily="49" charset="0"/>
                <a:ea typeface="Cascadia Code" panose="020B0609020000020004" pitchFamily="49" charset="0"/>
                <a:cs typeface="Cascadia Code" panose="020B0609020000020004" pitchFamily="49" charset="0"/>
              </a:rPr>
              <a:t>Solution: Java isn’t installed or isn’t in PATH.</a:t>
            </a:r>
          </a:p>
          <a:p>
            <a:pPr marL="0" indent="0">
              <a:buNone/>
            </a:pPr>
            <a:r>
              <a:rPr lang="en-US" sz="2000" dirty="0">
                <a:latin typeface="Cascadia Code" panose="020B0609020000020004" pitchFamily="49" charset="0"/>
                <a:ea typeface="Cascadia Code" panose="020B0609020000020004" pitchFamily="49" charset="0"/>
                <a:cs typeface="Cascadia Code" panose="020B0609020000020004" pitchFamily="49" charset="0"/>
              </a:rPr>
              <a:t>2. Exception in thread "main" </a:t>
            </a:r>
            <a:r>
              <a:rPr lang="en-US" sz="2000" dirty="0" err="1">
                <a:latin typeface="Cascadia Code" panose="020B0609020000020004" pitchFamily="49" charset="0"/>
                <a:ea typeface="Cascadia Code" panose="020B0609020000020004" pitchFamily="49" charset="0"/>
                <a:cs typeface="Cascadia Code" panose="020B0609020000020004" pitchFamily="49" charset="0"/>
              </a:rPr>
              <a:t>java.io.FileNotFoundException</a:t>
            </a:r>
            <a:r>
              <a:rPr lang="en-US" sz="2000" dirty="0">
                <a:latin typeface="Cascadia Code" panose="020B0609020000020004" pitchFamily="49" charset="0"/>
                <a:ea typeface="Cascadia Code" panose="020B0609020000020004" pitchFamily="49" charset="0"/>
                <a:cs typeface="Cascadia Code" panose="020B0609020000020004" pitchFamily="49" charset="0"/>
              </a:rPr>
              <a:t>: weights.txt (The system cannot find the file specified)</a:t>
            </a:r>
          </a:p>
          <a:p>
            <a:pPr marL="0" indent="0">
              <a:buNone/>
            </a:pPr>
            <a:r>
              <a:rPr lang="en-US" sz="2000" dirty="0">
                <a:latin typeface="Cascadia Code" panose="020B0609020000020004" pitchFamily="49" charset="0"/>
                <a:ea typeface="Cascadia Code" panose="020B0609020000020004" pitchFamily="49" charset="0"/>
                <a:cs typeface="Cascadia Code" panose="020B0609020000020004" pitchFamily="49" charset="0"/>
              </a:rPr>
              <a:t>Solution: Ensure weights.txt is there in the correct working directory, or run train to generate one.</a:t>
            </a:r>
          </a:p>
          <a:p>
            <a:pPr marL="0" indent="0">
              <a:buNone/>
            </a:pPr>
            <a:r>
              <a:rPr lang="en-US" sz="2000" dirty="0">
                <a:latin typeface="Cascadia Code" panose="020B0609020000020004" pitchFamily="49" charset="0"/>
                <a:ea typeface="Cascadia Code" panose="020B0609020000020004" pitchFamily="49" charset="0"/>
                <a:cs typeface="Cascadia Code" panose="020B0609020000020004" pitchFamily="49" charset="0"/>
              </a:rPr>
              <a:t>3. Invalid input! error when trying to save a file</a:t>
            </a:r>
          </a:p>
          <a:p>
            <a:pPr marL="0" indent="0">
              <a:buNone/>
            </a:pPr>
            <a:r>
              <a:rPr lang="en-US" sz="2000" dirty="0">
                <a:latin typeface="Cascadia Code" panose="020B0609020000020004" pitchFamily="49" charset="0"/>
                <a:ea typeface="Cascadia Code" panose="020B0609020000020004" pitchFamily="49" charset="0"/>
                <a:cs typeface="Cascadia Code" panose="020B0609020000020004" pitchFamily="49" charset="0"/>
              </a:rPr>
              <a:t>Solution: Make sure the number in the spinner is from 0-9 only.</a:t>
            </a:r>
            <a:endParaRPr lang="en-IN" sz="20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3074" name="Picture 2" descr="Construct Orpheus">
            <a:extLst>
              <a:ext uri="{FF2B5EF4-FFF2-40B4-BE49-F238E27FC236}">
                <a16:creationId xmlns:a16="http://schemas.microsoft.com/office/drawing/2014/main" id="{E7592C60-3D49-378B-AE87-B458067B1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534" y="253999"/>
            <a:ext cx="961122" cy="1276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675086"/>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3750"/>
        </a:solidFill>
        <a:effectLst/>
      </p:bgPr>
    </p:bg>
    <p:spTree>
      <p:nvGrpSpPr>
        <p:cNvPr id="1" name="">
          <a:extLst>
            <a:ext uri="{FF2B5EF4-FFF2-40B4-BE49-F238E27FC236}">
              <a16:creationId xmlns:a16="http://schemas.microsoft.com/office/drawing/2014/main" id="{0497E89B-A1D1-7EA4-D523-2B8EA7330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8EEA5-D826-52F7-8CF6-A99C436273FA}"/>
              </a:ext>
            </a:extLst>
          </p:cNvPr>
          <p:cNvSpPr>
            <a:spLocks noGrp="1"/>
          </p:cNvSpPr>
          <p:nvPr>
            <p:ph type="ctrTitle"/>
          </p:nvPr>
        </p:nvSpPr>
        <p:spPr>
          <a:xfrm>
            <a:off x="1524000" y="1492477"/>
            <a:ext cx="9144000" cy="2387600"/>
          </a:xfrm>
        </p:spPr>
        <p:txBody>
          <a:bodyPr>
            <a:normAutofit/>
          </a:bodyPr>
          <a:lstStyle/>
          <a:p>
            <a:r>
              <a:rPr lang="en-IN" b="1" dirty="0">
                <a:solidFill>
                  <a:schemeClr val="bg1"/>
                </a:solidFill>
                <a:latin typeface="MS PGothic" panose="020B0600070205080204" pitchFamily="34" charset="-128"/>
                <a:ea typeface="MS PGothic" panose="020B0600070205080204" pitchFamily="34" charset="-128"/>
              </a:rPr>
              <a:t>ok bye</a:t>
            </a:r>
          </a:p>
        </p:txBody>
      </p:sp>
      <p:sp>
        <p:nvSpPr>
          <p:cNvPr id="3" name="Subtitle 2">
            <a:extLst>
              <a:ext uri="{FF2B5EF4-FFF2-40B4-BE49-F238E27FC236}">
                <a16:creationId xmlns:a16="http://schemas.microsoft.com/office/drawing/2014/main" id="{0FCCC14F-F73D-B58F-2F5A-B8B2593199AA}"/>
              </a:ext>
            </a:extLst>
          </p:cNvPr>
          <p:cNvSpPr>
            <a:spLocks noGrp="1"/>
          </p:cNvSpPr>
          <p:nvPr>
            <p:ph type="subTitle" idx="1"/>
          </p:nvPr>
        </p:nvSpPr>
        <p:spPr>
          <a:xfrm>
            <a:off x="1524000" y="3972152"/>
            <a:ext cx="9144000" cy="1655762"/>
          </a:xfrm>
        </p:spPr>
        <p:txBody>
          <a:bodyPr>
            <a:normAutofit/>
          </a:bodyPr>
          <a:lstStyle/>
          <a:p>
            <a:r>
              <a:rPr lang="en-IN" sz="1200" dirty="0">
                <a:solidFill>
                  <a:schemeClr val="bg1"/>
                </a:solidFill>
              </a:rPr>
              <a:t>that took way too long</a:t>
            </a:r>
          </a:p>
          <a:p>
            <a:r>
              <a:rPr lang="en-IN" sz="1200" dirty="0">
                <a:solidFill>
                  <a:schemeClr val="bg1"/>
                </a:solidFill>
              </a:rPr>
              <a:t>maybe I should have just used launch4j?</a:t>
            </a:r>
          </a:p>
        </p:txBody>
      </p:sp>
      <p:pic>
        <p:nvPicPr>
          <p:cNvPr id="1026" name="Picture 2">
            <a:extLst>
              <a:ext uri="{FF2B5EF4-FFF2-40B4-BE49-F238E27FC236}">
                <a16:creationId xmlns:a16="http://schemas.microsoft.com/office/drawing/2014/main" id="{95B9AADD-53F2-7A99-E5C1-FB601A2E3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785257"/>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718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TotalTime>
  <Words>478</Words>
  <Application>Microsoft Office PowerPoint</Application>
  <PresentationFormat>Widescreen</PresentationFormat>
  <Paragraphs>40</Paragraphs>
  <Slides>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MS PGothic</vt:lpstr>
      <vt:lpstr>Arial</vt:lpstr>
      <vt:lpstr>Calibri</vt:lpstr>
      <vt:lpstr>Calibri Light</vt:lpstr>
      <vt:lpstr>Cascadia Code</vt:lpstr>
      <vt:lpstr>Cascadia Code SemiBold</vt:lpstr>
      <vt:lpstr>Cascadia Mono SemiBold</vt:lpstr>
      <vt:lpstr>Office Theme</vt:lpstr>
      <vt:lpstr>General Instructions</vt:lpstr>
      <vt:lpstr>0.1. Installing Java</vt:lpstr>
      <vt:lpstr>0.1. Installing Java</vt:lpstr>
      <vt:lpstr>1. Open Main.jar</vt:lpstr>
      <vt:lpstr>2. do stuff!</vt:lpstr>
      <vt:lpstr>3. train stuff!</vt:lpstr>
      <vt:lpstr>4. fix stuff</vt:lpstr>
      <vt:lpstr>ok bye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tpshyne@outlook.com</dc:creator>
  <cp:lastModifiedBy>tpshyne@outlook.com</cp:lastModifiedBy>
  <cp:revision>14</cp:revision>
  <dcterms:created xsi:type="dcterms:W3CDTF">2026-04-28T08:59:19Z</dcterms:created>
  <dcterms:modified xsi:type="dcterms:W3CDTF">2026-04-29T03:41:29Z</dcterms:modified>
</cp:coreProperties>
</file>